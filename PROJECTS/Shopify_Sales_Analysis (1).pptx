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5E8C3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Running Shoes</c:v>
                  </c:pt>
                  <c:pt idx="1">
                    <c:v>Tennis Shoes</c:v>
                  </c:pt>
                  <c:pt idx="2">
                    <c:v>Walking Shoes</c:v>
                  </c:pt>
                  <c:pt idx="3">
                    <c:v>Cycling Shoes</c:v>
                  </c:pt>
                  <c:pt idx="4">
                    <c:v>Climbing Shoes</c:v>
                  </c:pt>
                  <c:pt idx="5">
                    <c:v>Sandals</c:v>
                  </c:pt>
                  <c:pt idx="6">
                    <c:v>Gift Card</c:v>
                  </c:pt>
                  <c:pt idx="7">
                    <c:v>Flip-Flops</c:v>
                  </c:pt>
                  <c:pt idx="8">
                    <c:v>Boots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1.62</c:v>
                </c:pt>
                <c:pt idx="1">
                  <c:v>0.97</c:v>
                </c:pt>
                <c:pt idx="2">
                  <c:v>0.69</c:v>
                </c:pt>
                <c:pt idx="3">
                  <c:v>0.53</c:v>
                </c:pt>
                <c:pt idx="4">
                  <c:v>0.37</c:v>
                </c:pt>
                <c:pt idx="5">
                  <c:v>0.1</c:v>
                </c:pt>
                <c:pt idx="6">
                  <c:v>0.07</c:v>
                </c:pt>
                <c:pt idx="7">
                  <c:v>0.05</c:v>
                </c:pt>
                <c:pt idx="8">
                  <c:v>0.01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E8C31"/>
              </a:solidFill>
              <a:effectLst/>
            </c:spPr>
          </c:dPt>
          <c:dPt>
            <c:idx val="1"/>
            <c:bubble3D val="0"/>
            <c:spPr>
              <a:solidFill>
                <a:srgbClr val="C77B3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New Customers (59.56%)</c:v>
                </c:pt>
                <c:pt idx="1">
                  <c:v>Returning Customers (40.44%)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59.56</c:v>
                </c:pt>
                <c:pt idx="1">
                  <c:v>40.44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333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4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E4A1B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5E8C31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572000"/>
            <a:ext cx="3474720" cy="3474720"/>
          </a:xfrm>
          <a:prstGeom prst="ellipse">
            <a:avLst/>
          </a:prstGeom>
          <a:solidFill>
            <a:srgbClr val="5E8C31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SHOPIFY SALES ANALYSIS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AF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 BI Business Intelligence Project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68680" y="3977640"/>
            <a:ext cx="1280160" cy="36576"/>
          </a:xfrm>
          <a:prstGeom prst="rect">
            <a:avLst/>
          </a:prstGeom>
          <a:solidFill>
            <a:srgbClr val="C77B3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Santanu Pathak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  |  Power Query  ·  Data Modeling  ·  DAX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4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EAF2E3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581912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E8C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74520" y="16184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4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74520" y="207568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Goals, stakeholders &amp; KPIs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41732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1581912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E8C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452360" y="16184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4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&amp; Modeling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52360" y="207568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star schema &amp; date table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01752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EAF2E3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182112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E8C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1874520" y="32186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4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Performance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874520" y="367588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orders, AOV &amp; product mix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301752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3182112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E8C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7452360" y="32186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4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Behaviour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52360" y="367588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vs. returning, RFM segmentation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61772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EAF2E3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782312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E8C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1874520" y="48188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4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&amp; CLV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874520" y="527608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purchase rate, cohorts, lifetime value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461772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4782312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E8C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7452360" y="48188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4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Recommendations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52360" y="527608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for the business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Sales Analysis  ·  Santanu Pathak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4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1188720"/>
            <a:ext cx="12188952" cy="18288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8C31"/>
                </a:solidFill>
              </a:rPr>
              <a:t>Goal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interactive Power BI dashboard that helps stakeholders understand revenue drivers, customer behaviour, and retention — to guide data-driven decisions.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8C31"/>
                </a:solidFill>
              </a:rPr>
              <a:t>Stakeholders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owner / founder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team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inventory managers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303520" cy="4846320"/>
          </a:xfrm>
          <a:prstGeom prst="roundRect">
            <a:avLst>
              <a:gd name="adj" fmla="val 1509"/>
            </a:avLst>
          </a:prstGeom>
          <a:solidFill>
            <a:srgbClr val="2E4A1B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645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KPIs Tracked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83680" y="219456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AF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AF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AF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AF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 (AOV)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AF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Purchase Rate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AF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Tax Collected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AF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split — New vs. Returning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AF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Lifetime Value (CLV)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Sales Analysis  ·  Santanu Pathak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4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Dashboard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</a:rPr>
              <a:t>Interactive Power BI Sales Analysis page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225804" y="1298448"/>
            <a:ext cx="9737344" cy="5541264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38100" dir="5400000">
              <a:srgbClr val="999999">
                <a:alpha val="30000"/>
              </a:srgbClr>
            </a:outerShdw>
          </a:effectLst>
        </p:spPr>
      </p:sp>
      <p:pic>
        <p:nvPicPr>
          <p:cNvPr id="5" name="Image 0" descr="/home/claude/work/dashboard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956" y="1371600"/>
            <a:ext cx="9591040" cy="5394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Sales Analysis  ·  Santanu Pathak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4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Headline Performance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</a:rPr>
              <a:t>Core KPIs from the Sales Analysis dashboard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EAF2E3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0116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4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$4.60M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34840" y="169164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EAF2E3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34840" y="20116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4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7,431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434840" y="2926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0" y="169164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EAF2E3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0" y="20116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4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4,431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229600" y="2926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88620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EAF2E3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42062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4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$618.89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40080" y="5120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434840" y="388620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EAF2E3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34840" y="42062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4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46.02%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434840" y="5120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Purchase Rate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0" y="388620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EAF2E3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0" y="42062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4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$418.09K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229600" y="5120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Tax Collected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Sales Analysis  ·  Santanu Pathak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4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Product Type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</a:rPr>
              <a:t>Running, Tennis &amp; Walking Shoes drive ~71% of total revenue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73152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69164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EAF2E3"/>
          </a:solidFill>
          <a:ln/>
        </p:spPr>
      </p:sp>
      <p:sp>
        <p:nvSpPr>
          <p:cNvPr id="6" name="Text 3"/>
          <p:cNvSpPr/>
          <p:nvPr/>
        </p:nvSpPr>
        <p:spPr>
          <a:xfrm>
            <a:off x="8138160" y="17830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4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275320" y="24231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95959"/>
                </a:solidFill>
              </a:rPr>
              <a:t>of revenue from top 3 categories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138160" y="329184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CEFE4"/>
          </a:solidFill>
          <a:ln/>
        </p:spPr>
      </p:sp>
      <p:sp>
        <p:nvSpPr>
          <p:cNvPr id="9" name="Text 6"/>
          <p:cNvSpPr/>
          <p:nvPr/>
        </p:nvSpPr>
        <p:spPr>
          <a:xfrm>
            <a:off x="8138160" y="33832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7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275320" y="40233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95959"/>
                </a:solidFill>
              </a:rPr>
              <a:t>share each from Clogs, Boy's &amp; Water Shoes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Sales Analysis  ·  Santanu Pathak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4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vs. Returning Customer Revenue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</a:rPr>
              <a:t>Returning customers punch above their weight in revenue contribution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645920"/>
          <a:ext cx="49377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82880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EAF2E3"/>
          </a:solidFill>
          <a:ln/>
        </p:spPr>
      </p:sp>
      <p:sp>
        <p:nvSpPr>
          <p:cNvPr id="6" name="Text 3"/>
          <p:cNvSpPr/>
          <p:nvPr/>
        </p:nvSpPr>
        <p:spPr>
          <a:xfrm>
            <a:off x="6355080" y="19659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4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$2.74M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355080" y="26060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</a:rPr>
              <a:t>New Customer Revenue (59.56%)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26480" y="361188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FCEFE4"/>
          </a:solidFill>
          <a:ln/>
        </p:spPr>
      </p:sp>
      <p:sp>
        <p:nvSpPr>
          <p:cNvPr id="9" name="Text 6"/>
          <p:cNvSpPr/>
          <p:nvPr/>
        </p:nvSpPr>
        <p:spPr>
          <a:xfrm>
            <a:off x="6355080" y="3749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7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$1.86M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6355080" y="43891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</a:rPr>
              <a:t>Returning Customer Revenue (40.44%)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126480" y="5349240"/>
            <a:ext cx="5577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44444"/>
                </a:solidFill>
              </a:rPr>
              <a:t>Insight: a smaller pool of repeat buyers generates a disproportionately large share of revenue — a strong signal to invest in retention.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Sales Analysis  ·  Santanu Pathak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4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Retention &amp; Customer Lifetime Value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1188720"/>
            <a:ext cx="12188952" cy="18288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50876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2E4A1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46.02%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E8CE"/>
                </a:solidFill>
              </a:rPr>
              <a:t>Repeat Purchase Rate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4A1B"/>
                </a:solidFill>
              </a:rPr>
              <a:t>Repeat Purchase Rate =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DIVIDE(RepeatCustomers, TotalCustomers)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0" y="1508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8C31"/>
                </a:solidFill>
              </a:rPr>
              <a:t>Cohort Analysis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297680" y="196596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</a:rPr>
              <a:t>Customers are grouped by the month of their first purchase, then tracked month-by-month to see how many return. Retention typically drops sharpest between month 0 and month 1 — the highest-leverage window for re-engagement.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8C31"/>
                </a:solidFill>
              </a:rPr>
              <a:t>Customer Lifetime Value (Revenue-Based)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297680" y="3749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CLV = Average Order Value × Purchase Frequency × Customer Lifespan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0" y="429768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</a:rPr>
              <a:t>Since the dataset has no cost/margin field, CLV is calculated on a revenue basis. The "Champions" RFM segment (frequent, high-spend, recent buyers) shows the highest CLV and should be prioritised for loyalty investment.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Sales Analysis  ·  Santanu Pathak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4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Segmentation (RFM)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</a:rPr>
              <a:t>Recency · Frequency · Monetary scoring groups customers into actionable tiers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148840" cy="2377440"/>
          </a:xfrm>
          <a:prstGeom prst="roundRect">
            <a:avLst>
              <a:gd name="adj" fmla="val 3404"/>
            </a:avLst>
          </a:prstGeom>
          <a:solidFill>
            <a:srgbClr val="5E8C31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920240"/>
            <a:ext cx="1929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9808" y="2560320"/>
            <a:ext cx="19293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Recent, frequent, high spend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971800" y="1691640"/>
            <a:ext cx="2148840" cy="2377440"/>
          </a:xfrm>
          <a:prstGeom prst="roundRect">
            <a:avLst>
              <a:gd name="adj" fmla="val 3404"/>
            </a:avLst>
          </a:prstGeom>
          <a:solidFill>
            <a:srgbClr val="7FA652"/>
          </a:solidFill>
          <a:ln/>
        </p:spPr>
      </p:sp>
      <p:sp>
        <p:nvSpPr>
          <p:cNvPr id="8" name="Text 6"/>
          <p:cNvSpPr/>
          <p:nvPr/>
        </p:nvSpPr>
        <p:spPr>
          <a:xfrm>
            <a:off x="3081528" y="1920240"/>
            <a:ext cx="1929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081528" y="2560320"/>
            <a:ext cx="19293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&amp; solid spend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303520" y="1691640"/>
            <a:ext cx="2148840" cy="2377440"/>
          </a:xfrm>
          <a:prstGeom prst="roundRect">
            <a:avLst>
              <a:gd name="adj" fmla="val 3404"/>
            </a:avLst>
          </a:prstGeom>
          <a:solidFill>
            <a:srgbClr val="9BC97A"/>
          </a:solidFill>
          <a:ln/>
        </p:spPr>
      </p:sp>
      <p:sp>
        <p:nvSpPr>
          <p:cNvPr id="11" name="Text 9"/>
          <p:cNvSpPr/>
          <p:nvPr/>
        </p:nvSpPr>
        <p:spPr>
          <a:xfrm>
            <a:off x="5413248" y="1920240"/>
            <a:ext cx="1929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/ Recent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13248" y="2560320"/>
            <a:ext cx="19293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order, recent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635240" y="1691640"/>
            <a:ext cx="2148840" cy="2377440"/>
          </a:xfrm>
          <a:prstGeom prst="roundRect">
            <a:avLst>
              <a:gd name="adj" fmla="val 3404"/>
            </a:avLst>
          </a:prstGeom>
          <a:solidFill>
            <a:srgbClr val="C77B3B"/>
          </a:solidFill>
          <a:ln/>
        </p:spPr>
      </p:sp>
      <p:sp>
        <p:nvSpPr>
          <p:cNvPr id="14" name="Text 12"/>
          <p:cNvSpPr/>
          <p:nvPr/>
        </p:nvSpPr>
        <p:spPr>
          <a:xfrm>
            <a:off x="7744968" y="1920240"/>
            <a:ext cx="1929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44968" y="2560320"/>
            <a:ext cx="19293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active, now quiet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966960" y="1691640"/>
            <a:ext cx="2148840" cy="2377440"/>
          </a:xfrm>
          <a:prstGeom prst="roundRect">
            <a:avLst>
              <a:gd name="adj" fmla="val 3404"/>
            </a:avLst>
          </a:prstGeom>
          <a:solidFill>
            <a:srgbClr val="B7B7B7"/>
          </a:solidFill>
          <a:ln/>
        </p:spPr>
      </p:sp>
      <p:sp>
        <p:nvSpPr>
          <p:cNvPr id="17" name="Text 15"/>
          <p:cNvSpPr/>
          <p:nvPr/>
        </p:nvSpPr>
        <p:spPr>
          <a:xfrm>
            <a:off x="10076688" y="1920240"/>
            <a:ext cx="1929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076688" y="2560320"/>
            <a:ext cx="19293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else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44348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33333"/>
                </a:solidFill>
              </a:rPr>
              <a:t>Action: reward Champions with loyalty perks; win back At-Risk customers before they churn completely; convert New/Recent buyers into repeat customers within the first 30 days.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Sales Analysis  ·  Santanu Pathak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4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411480" cy="411480"/>
          </a:xfrm>
          <a:prstGeom prst="ellipse">
            <a:avLst/>
          </a:prstGeom>
          <a:solidFill>
            <a:srgbClr val="5E8C3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34440" y="1353312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Running, Tennis &amp; Walking Shoes drive ~71% of total revenue — the store's core strength.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411480" cy="411480"/>
          </a:xfrm>
          <a:prstGeom prst="ellipse">
            <a:avLst/>
          </a:prstGeom>
          <a:solidFill>
            <a:srgbClr val="5E8C3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286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2221992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customers are 40.44% of revenue despite being a smaller share of the customer base.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154680"/>
            <a:ext cx="411480" cy="411480"/>
          </a:xfrm>
          <a:prstGeom prst="ellipse">
            <a:avLst/>
          </a:prstGeom>
          <a:solidFill>
            <a:srgbClr val="5E8C3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54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3090672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46.02% repeat purchase rate is a healthy baseline, but over half of customers never return.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411480" cy="411480"/>
          </a:xfrm>
          <a:prstGeom prst="ellipse">
            <a:avLst/>
          </a:prstGeom>
          <a:solidFill>
            <a:srgbClr val="5E8C3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023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3959352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Payments dominates the payment mix, with PayPal a distant second.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4892040"/>
            <a:ext cx="411480" cy="411480"/>
          </a:xfrm>
          <a:prstGeom prst="ellipse">
            <a:avLst/>
          </a:prstGeom>
          <a:solidFill>
            <a:srgbClr val="5E8C3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892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4828032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Long-tail categories (Water Shoes, Boy's, Clogs) contribute under 1% each — a merchandising review candidate.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Sales Analysis  ·  Santanu Pathak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E4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E4A1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3A5A2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08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B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top categories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marketing &amp; inventory on Running, Tennis &amp; Walking Shoes.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3716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3A5A2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508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B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0" y="19659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a win-back flow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251460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first-time buyers within 30 days to lift repeat purchase rate.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3716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3A5A28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1508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B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321040" y="19659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loyalty tier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21040" y="251460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the Champions/high-CLV segment to protect their value.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5661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3A5A28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703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B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2960" y="41605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 At-Risk customers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470916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offers before they churn completely.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0" y="35661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3A5A28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3703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B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572000" y="41605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long-tail catalogue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470916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Bundle, discount, or phase out Clogs, Boy's &amp; Water Shoes.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35661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3A5A28"/>
          </a:solidFill>
          <a:ln/>
        </p:spPr>
      </p:sp>
      <p:sp>
        <p:nvSpPr>
          <p:cNvPr id="25" name="Text 23"/>
          <p:cNvSpPr/>
          <p:nvPr/>
        </p:nvSpPr>
        <p:spPr>
          <a:xfrm>
            <a:off x="8321040" y="3703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B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321040" y="41605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checkout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21040" y="470916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Shopify Payments &amp; PayPal, the dominant gateways.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Sales Analysis  ·  Santanu Pathak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E4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E4A1B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5E8C31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AF2E3"/>
                </a:solidFill>
              </a:rPr>
              <a:t>Questions &amp; Discussion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4937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Santanu Pathak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5349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B98A"/>
                </a:solidFill>
              </a:rPr>
              <a:t>Shopify Sales Analysis — Power BI Project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2026-07-28T12:20:06Z</dcterms:created>
  <dcterms:modified xsi:type="dcterms:W3CDTF">2026-07-28T12:20:06Z</dcterms:modified>
</cp:coreProperties>
</file>